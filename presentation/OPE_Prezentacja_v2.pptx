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Off-Policy Evaluation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6F0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 korekcją kauzalną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Method · IPS · Doubly Robust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Bandit Dataset (NeurIPS 2021)  ·  StatsBomb La Liga 2015/16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tygodni · 3 estymatory · 1 pytanie counterfactual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1 ·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Dlaczego naiwny model ML zawodzi na danych obserwacyjnych</a:t>
            </a:r>
            <a:endParaRPr lang="en-US" sz="2400" dirty="0"/>
          </a:p>
        </p:txBody>
      </p:sp>
      <p:pic>
        <p:nvPicPr>
          <p:cNvPr id="6" name="Image 0" descr="/mnt/user-data/uploads/01_selection_bi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1207008"/>
            <a:ext cx="873252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1 ·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Off-Policy Evaluation — pytanie counterfactual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1168" y="1234440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A7B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Gdybyśmy przez ostatni rok stosowali politykę X zamiast Y — ile byśmy zyskali?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01168" y="1783080"/>
            <a:ext cx="5029200" cy="2606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892808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V* = E[r | policy π_new]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D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V_DM  = E[ f(s, a_new) ]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model nagrody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V_IPS = E[ r × π_new / π_old ]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ważenie obserwacji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39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V_DR  = V_IPS + korekcja DM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40680" y="1783080"/>
            <a:ext cx="64008" cy="70408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1783080"/>
            <a:ext cx="3401568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1848" y="1837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Method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41848" y="2157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Trenuje model nagrody f(s,a)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0680" y="2670048"/>
            <a:ext cx="64008" cy="70408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2670048"/>
            <a:ext cx="3401568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41848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41848" y="3044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Ważenie przez propensity π_new/π_old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0680" y="3557016"/>
            <a:ext cx="64008" cy="704088"/>
          </a:xfrm>
          <a:prstGeom prst="rect">
            <a:avLst/>
          </a:prstGeom>
          <a:solidFill>
            <a:srgbClr val="7C60D4"/>
          </a:solidFill>
          <a:ln w="12700">
            <a:solidFill>
              <a:srgbClr val="7C60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32120" y="3557016"/>
            <a:ext cx="3401568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41848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Doubly Robust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41848" y="3931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Łączy DM + IPS. Działa gdy choć jedna metoda jest dobra.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2 · DANE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Dane: Open Bandit Dataset (Zozo Research, NeurIPS 2021)</a:t>
            </a:r>
            <a:endParaRPr lang="en-US" sz="2400" dirty="0"/>
          </a:p>
        </p:txBody>
      </p:sp>
      <p:pic>
        <p:nvPicPr>
          <p:cNvPr id="6" name="Image 0" descr="/mnt/user-data/uploads/02_reward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1234440"/>
            <a:ext cx="4114800" cy="2194560"/>
          </a:xfrm>
          <a:prstGeom prst="rect">
            <a:avLst/>
          </a:prstGeom>
        </p:spPr>
      </p:pic>
      <p:pic>
        <p:nvPicPr>
          <p:cNvPr id="7" name="Image 1" descr="/mnt/user-data/uploads/03_action_distribu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1168" y="3474720"/>
            <a:ext cx="4114800" cy="1463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26280" y="1234440"/>
            <a:ext cx="2148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26280" y="1234440"/>
            <a:ext cx="2148840" cy="73152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61772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1.3M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4617720" y="18928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obserwacji (full dataset)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885432" y="1234440"/>
            <a:ext cx="2148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85432" y="1234440"/>
            <a:ext cx="2148840" cy="73152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976872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~10K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976872" y="18928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set do treningu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26280" y="2532888"/>
            <a:ext cx="2148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26280" y="2532888"/>
            <a:ext cx="214884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17720" y="26700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4617720" y="319125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akcji (produkty)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885432" y="2532888"/>
            <a:ext cx="2148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85432" y="2532888"/>
            <a:ext cx="214884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976872" y="26700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0.38%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6976872" y="319125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— nagroda rzadka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26280" y="3831336"/>
            <a:ext cx="2148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26280" y="3831336"/>
            <a:ext cx="214884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17720" y="39684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260:1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4617720" y="44897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885432" y="3831336"/>
            <a:ext cx="2148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885432" y="3831336"/>
            <a:ext cx="214884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976872" y="39684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0.0038</a:t>
            </a:r>
            <a:endParaRPr lang="en-US" sz="2600" dirty="0"/>
          </a:p>
        </p:txBody>
      </p:sp>
      <p:sp>
        <p:nvSpPr>
          <p:cNvPr id="31" name="Text 27"/>
          <p:cNvSpPr/>
          <p:nvPr/>
        </p:nvSpPr>
        <p:spPr>
          <a:xfrm>
            <a:off x="6976872" y="44897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V*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3 · DIRECT METHOD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Method — V_DM = 0.003515 ≈ V* = 0.0038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852160" y="1234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Wyniki i wnioski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52160" y="1719072"/>
            <a:ext cx="256032" cy="256032"/>
          </a:xfrm>
          <a:prstGeom prst="ellipse">
            <a:avLst/>
          </a:prstGeom>
          <a:solidFill>
            <a:srgbClr val="2D9E4F"/>
          </a:solidFill>
          <a:ln w="12700">
            <a:solidFill>
              <a:srgbClr val="2D9E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170992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72200" y="1664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V_DM = 0.003515 ≈ V* = 0.0038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0" y="2331720"/>
            <a:ext cx="256032" cy="256032"/>
          </a:xfrm>
          <a:prstGeom prst="ellipse">
            <a:avLst/>
          </a:prstGeom>
          <a:solidFill>
            <a:srgbClr val="2D9E4F"/>
          </a:solidFill>
          <a:ln w="12700">
            <a:solidFill>
              <a:srgbClr val="2D9E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23225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72200" y="22768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bardzo wąskie: [0.003506, 0.003525]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852160" y="2944368"/>
            <a:ext cx="256032" cy="256032"/>
          </a:xfrm>
          <a:prstGeom prst="ellipse">
            <a:avLst/>
          </a:prstGeom>
          <a:solidFill>
            <a:srgbClr val="2D9E4F"/>
          </a:solidFill>
          <a:ln w="12700">
            <a:solidFill>
              <a:srgbClr val="2D9E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0" y="293522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72200" y="28895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Najniższa wariancja ze wszystkich estymatorów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52160" y="3557016"/>
            <a:ext cx="256032" cy="25603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35478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72200" y="3502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 = 0.0056 — model ≈ losowy (brak sygnału)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852160" y="4169664"/>
            <a:ext cx="256032" cy="25603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0" y="41605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7220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systematyczny z ekstrapolacji OOD</a:t>
            </a:r>
            <a:endParaRPr lang="en-US" sz="1150" dirty="0"/>
          </a:p>
        </p:txBody>
      </p:sp>
      <p:pic>
        <p:nvPicPr>
          <p:cNvPr id="23" name="Picture 22" descr="04_dm_vs_naive_c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1207008"/>
            <a:ext cx="54864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3 · DIRECT METHOD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 model: AUC-PR = 0.0056 — problem z rzadką nagrodą</a:t>
            </a:r>
            <a:endParaRPr lang="en-US" sz="2400" dirty="0"/>
          </a:p>
        </p:txBody>
      </p:sp>
      <p:pic>
        <p:nvPicPr>
          <p:cNvPr id="6" name="Picture 5" descr="pr_curve_t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1207008"/>
            <a:ext cx="873252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3 · DIRECT METHOD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Słabość DM — ekstrapolacja i bias modelu nagrody</a:t>
            </a:r>
            <a:endParaRPr lang="en-US" sz="2400" dirty="0"/>
          </a:p>
        </p:txBody>
      </p:sp>
      <p:pic>
        <p:nvPicPr>
          <p:cNvPr id="6" name="Image 0" descr="/mnt/user-data/uploads/06_shap_top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1234440"/>
            <a:ext cx="4389120" cy="3566160"/>
          </a:xfrm>
          <a:prstGeom prst="rect">
            <a:avLst/>
          </a:prstGeom>
        </p:spPr>
      </p:pic>
      <p:pic>
        <p:nvPicPr>
          <p:cNvPr id="7" name="Image 1" descr="/mnt/user-data/uploads/07_ood_risk_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234440"/>
            <a:ext cx="4178808" cy="2606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54880" y="3931920"/>
            <a:ext cx="4178808" cy="1005840"/>
          </a:xfrm>
          <a:prstGeom prst="rect">
            <a:avLst/>
          </a:prstGeom>
          <a:solidFill>
            <a:srgbClr val="FEF3C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892040" y="4005072"/>
            <a:ext cx="39136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rate = 0.16% </a:t>
            </a:r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obserwacji poza manifoldem
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DM = −0.000285 </a:t>
            </a:r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 zaniża nagrodę systematycznie)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4 · IPS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IPS — model propensity P(a|s) i kalibracja</a:t>
            </a:r>
            <a:endParaRPr lang="en-US" sz="2400" dirty="0"/>
          </a:p>
        </p:txBody>
      </p:sp>
      <p:pic>
        <p:nvPicPr>
          <p:cNvPr id="6" name="Image 0" descr="/mnt/user-data/uploads/08_calibration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1207008"/>
            <a:ext cx="873252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4 · IPS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IPS — ważenie przez propensity scores</a:t>
            </a:r>
            <a:endParaRPr lang="en-US" sz="2400" dirty="0"/>
          </a:p>
        </p:txBody>
      </p:sp>
      <p:pic>
        <p:nvPicPr>
          <p:cNvPr id="6" name="Image 0" descr="/mnt/user-data/uploads/09_ips_weights_h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1207008"/>
            <a:ext cx="502920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40680" y="1234440"/>
            <a:ext cx="3493008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32120" y="1261872"/>
            <a:ext cx="3337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V_IPS = E[ r × π_new(a|s) / π_old(a|s) ]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40680" y="1965960"/>
            <a:ext cx="34930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20025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P(a|s)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20025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80-klasowy XGBoost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40680" y="2514600"/>
            <a:ext cx="3493008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32120" y="25511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logloss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89520" y="25511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4.37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40680" y="3063240"/>
            <a:ext cx="34930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32120" y="309981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589520" y="309981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1.75%  (baseline: 1.25%)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40680" y="3611880"/>
            <a:ext cx="3493008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364845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589520" y="36484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9890/10000 = 98.9%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40680" y="4160520"/>
            <a:ext cx="34930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32120" y="419709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V_IPS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589520" y="41970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0.004423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4 · IPS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Clipping — tradeoff bias-variance</a:t>
            </a:r>
            <a:endParaRPr lang="en-US" sz="2400" dirty="0"/>
          </a:p>
        </p:txBody>
      </p:sp>
      <p:pic>
        <p:nvPicPr>
          <p:cNvPr id="6" name="Image 0" descr="/mnt/user-data/uploads/10_bias_variance_clipp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1207008"/>
            <a:ext cx="873252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4 · IPS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Overlap violation — ESS 0.99 → 0.11, V_IPS skacze 5×</a:t>
            </a:r>
            <a:endParaRPr lang="en-US" sz="2400" dirty="0"/>
          </a:p>
        </p:txBody>
      </p:sp>
      <p:pic>
        <p:nvPicPr>
          <p:cNvPr id="6" name="Picture 5" descr="overlap_violation_weigh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1207008"/>
            <a:ext cx="873252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7C60D4"/>
          </a:solidFill>
          <a:ln w="12700">
            <a:solidFill>
              <a:srgbClr val="7C60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5 · DOUBLY ROBUST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Doubly Robust — state of the art w OPE</a:t>
            </a:r>
            <a:endParaRPr lang="en-US" sz="2400" dirty="0"/>
          </a:p>
        </p:txBody>
      </p:sp>
      <p:pic>
        <p:nvPicPr>
          <p:cNvPr id="6" name="Image 0" descr="/mnt/user-data/uploads/14_dr_robustn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1234440"/>
            <a:ext cx="502920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40680" y="1234440"/>
            <a:ext cx="3493008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32120" y="126187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V_DR = V_IPS + E[(r−f(s,a))×π_new/π_old]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40680" y="201168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Kluczowa własność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40680" y="2359152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Poprawny gdy choć jeden model (PS lub reward) działa prawidłowo.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40680" y="2999232"/>
            <a:ext cx="3493008" cy="594360"/>
          </a:xfrm>
          <a:prstGeom prst="rect">
            <a:avLst/>
          </a:prstGeom>
          <a:solidFill>
            <a:srgbClr val="E8F8EE"/>
          </a:solidFill>
          <a:ln w="12700">
            <a:solidFill>
              <a:srgbClr val="2D9E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50408" y="3035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(oba OK)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50408" y="331012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9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0.004223 ≈ V*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40680" y="3666744"/>
            <a:ext cx="3493008" cy="594360"/>
          </a:xfrm>
          <a:prstGeom prst="rect">
            <a:avLst/>
          </a:prstGeom>
          <a:solidFill>
            <a:srgbClr val="E8F8EE"/>
          </a:solidFill>
          <a:ln w="12700">
            <a:solidFill>
              <a:srgbClr val="2D9E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50408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Zły PS model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50408" y="39776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9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0.003818 ≈ V* ✅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40680" y="4334256"/>
            <a:ext cx="3493008" cy="594360"/>
          </a:xfrm>
          <a:prstGeom prst="rect">
            <a:avLst/>
          </a:prstGeom>
          <a:solidFill>
            <a:srgbClr val="FDEC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50408" y="4370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Zły reward (stały 0.5)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50408" y="46451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−0.024 ❌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6 · WYNIKI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Wyniki — DM vs IPS vs SNIPS vs DR na Open Bandit Dataset</a:t>
            </a:r>
            <a:endParaRPr lang="en-US" sz="2400" dirty="0"/>
          </a:p>
        </p:txBody>
      </p:sp>
      <p:pic>
        <p:nvPicPr>
          <p:cNvPr id="6" name="Image 0" descr="/mnt/user-data/uploads/12_unified_benchmark_c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1234440"/>
            <a:ext cx="493776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9240" y="1234440"/>
            <a:ext cx="7315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85816" y="1234440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Estymat.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80760" y="1234440"/>
            <a:ext cx="804672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17336" y="123444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85432" y="1234440"/>
            <a:ext cx="1810512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22008" y="123444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 CI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95944" y="1234440"/>
            <a:ext cx="8686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32520" y="123444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Width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49240" y="1618488"/>
            <a:ext cx="731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49240" y="1618488"/>
            <a:ext cx="54864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58968" y="1618488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80760" y="1618488"/>
            <a:ext cx="80467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1618488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0.003515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885432" y="1618488"/>
            <a:ext cx="181051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31152" y="1618488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[0.003506, 0.003525]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695944" y="1618488"/>
            <a:ext cx="868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41664" y="1618488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0.000019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349240" y="2112264"/>
            <a:ext cx="731520" cy="493776"/>
          </a:xfrm>
          <a:prstGeom prst="rect">
            <a:avLst/>
          </a:prstGeom>
          <a:solidFill>
            <a:srgbClr val="F4F7F8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49240" y="2112264"/>
            <a:ext cx="54864" cy="49377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58968" y="2112264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080760" y="2112264"/>
            <a:ext cx="804672" cy="493776"/>
          </a:xfrm>
          <a:prstGeom prst="rect">
            <a:avLst/>
          </a:prstGeom>
          <a:solidFill>
            <a:srgbClr val="F4F7F8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26480" y="2112264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0.004423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885432" y="2112264"/>
            <a:ext cx="1810512" cy="493776"/>
          </a:xfrm>
          <a:prstGeom prst="rect">
            <a:avLst/>
          </a:prstGeom>
          <a:solidFill>
            <a:srgbClr val="F4F7F8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31152" y="2112264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[0.003342, 0.005567]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695944" y="2112264"/>
            <a:ext cx="868680" cy="493776"/>
          </a:xfrm>
          <a:prstGeom prst="rect">
            <a:avLst/>
          </a:prstGeom>
          <a:solidFill>
            <a:srgbClr val="F4F7F8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41664" y="2112264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0.002226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349240" y="2606040"/>
            <a:ext cx="731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349240" y="2606040"/>
            <a:ext cx="54864" cy="4937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58968" y="260604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SNIPS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080760" y="2606040"/>
            <a:ext cx="80467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6480" y="2606040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0.004184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885432" y="2606040"/>
            <a:ext cx="181051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931152" y="2606040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[0.003161, 0.005267]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695944" y="2606040"/>
            <a:ext cx="868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741664" y="2606040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0.002106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5349240" y="3099816"/>
            <a:ext cx="731520" cy="493776"/>
          </a:xfrm>
          <a:prstGeom prst="rect">
            <a:avLst/>
          </a:prstGeom>
          <a:solidFill>
            <a:srgbClr val="F4F7F8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349240" y="3099816"/>
            <a:ext cx="54864" cy="493776"/>
          </a:xfrm>
          <a:prstGeom prst="rect">
            <a:avLst/>
          </a:prstGeom>
          <a:solidFill>
            <a:srgbClr val="7C60D4"/>
          </a:solidFill>
          <a:ln w="12700">
            <a:solidFill>
              <a:srgbClr val="7C60D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58968" y="309981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080760" y="3099816"/>
            <a:ext cx="804672" cy="493776"/>
          </a:xfrm>
          <a:prstGeom prst="rect">
            <a:avLst/>
          </a:prstGeom>
          <a:solidFill>
            <a:srgbClr val="F4F7F8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126480" y="3099816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60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0.004223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885432" y="3099816"/>
            <a:ext cx="1810512" cy="493776"/>
          </a:xfrm>
          <a:prstGeom prst="rect">
            <a:avLst/>
          </a:prstGeom>
          <a:solidFill>
            <a:srgbClr val="F4F7F8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931152" y="3099816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[0.003140, 0.005367]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8695944" y="3099816"/>
            <a:ext cx="868680" cy="493776"/>
          </a:xfrm>
          <a:prstGeom prst="rect">
            <a:avLst/>
          </a:prstGeom>
          <a:solidFill>
            <a:srgbClr val="F4F7F8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741664" y="3099816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0.002227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5349240" y="4187952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V* = 0.0038 · Wszystkie estymatory zawierają V* w CI · IPS CI 117× szersze niż DM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6 · WYNIKI (GŁÓWNY)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MSE = Bias² + Variance — kluczowy tradeoff w OPE</a:t>
            </a:r>
            <a:endParaRPr lang="en-US" sz="2400" dirty="0"/>
          </a:p>
        </p:txBody>
      </p:sp>
      <p:pic>
        <p:nvPicPr>
          <p:cNvPr id="6" name="Image 0" descr="/mnt/user-data/uploads/13_bias_variance_decomposi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123444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234440"/>
            <a:ext cx="32186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0" y="1234440"/>
            <a:ext cx="73152" cy="11704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70448" y="1271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70448" y="158191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Bias²: 8.1e-8   Var: ≈ 0   MSE: 8.1e-8 ✓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70448" y="18470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Wariancja praktycznie zero. Bias systematyczny z reward modelu.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15000" y="2496312"/>
            <a:ext cx="32186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15000" y="2496312"/>
            <a:ext cx="73152" cy="11704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70448" y="25328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870448" y="28437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Bias²: 3.5e-7   Var: 4.5e-7   MSE: 7.7e-7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70448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Prawie nieobciążony. Wysoka wariancja — wyniki skaczą.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15000" y="3758184"/>
            <a:ext cx="32186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15000" y="3758184"/>
            <a:ext cx="73152" cy="11704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70448" y="37947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SNIPS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870448" y="410565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Bias²: 1.2e-7   Var: 3.8e-7   MSE: 5.0e-7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870448" y="43708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Kompromis. Redukuje wariancję IPS o 15%.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A32D6B"/>
          </a:solidFill>
          <a:ln w="12700">
            <a:solidFill>
              <a:srgbClr val="A32D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7 · WALIDACJA KAUZALNA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Sensitivity Analysis — czy wynik jest kauzalny czy przypadkowy?</a:t>
            </a:r>
            <a:endParaRPr lang="en-US" sz="2400" dirty="0"/>
          </a:p>
        </p:txBody>
      </p:sp>
      <p:pic>
        <p:nvPicPr>
          <p:cNvPr id="6" name="Image 0" descr="/mnt/user-data/uploads/15_sensitivity_refut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1234440"/>
            <a:ext cx="502920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40680" y="123444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testy refutacji (DoWhy)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40680" y="1691640"/>
            <a:ext cx="3493008" cy="896112"/>
          </a:xfrm>
          <a:prstGeom prst="rect">
            <a:avLst/>
          </a:prstGeom>
          <a:solidFill>
            <a:srgbClr val="E8F8EE"/>
          </a:solidFill>
          <a:ln w="12700">
            <a:solidFill>
              <a:srgbClr val="2D9E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59552" y="1728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Common Cause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559552" y="20208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ATE = −0.003940, p = 0.392 ✅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59552" y="2276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Dodaję losową zmienną. ATE stabilne.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40680" y="2697480"/>
            <a:ext cx="3493008" cy="896112"/>
          </a:xfrm>
          <a:prstGeom prst="rect">
            <a:avLst/>
          </a:prstGeom>
          <a:solidFill>
            <a:srgbClr val="E8F8EE"/>
          </a:solidFill>
          <a:ln w="12700">
            <a:solidFill>
              <a:srgbClr val="2D9E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59552" y="2734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Placebo Treatment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559552" y="30266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ATE = −0.000229 ✅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59552" y="32826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Losowy treatment → efekt znika.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40680" y="3703320"/>
            <a:ext cx="3493008" cy="896112"/>
          </a:xfrm>
          <a:prstGeom prst="rect">
            <a:avLst/>
          </a:prstGeom>
          <a:solidFill>
            <a:srgbClr val="E8F8EE"/>
          </a:solidFill>
          <a:ln w="12700">
            <a:solidFill>
              <a:srgbClr val="2D9E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59552" y="37398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Subset (80%)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559552" y="40325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ATE = −0.003936, p = 0.485 ✅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59552" y="42885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80% danych — wynik stabilny.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40680" y="466344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ATE = −0.003924 (akcja 0 nie zwiększa CTR)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8 · PILOT PIŁKARSKI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sportowy — OPE na danych piłkarskich (La Liga 2015/16)</a:t>
            </a:r>
            <a:endParaRPr lang="en-US" sz="2400" dirty="0"/>
          </a:p>
        </p:txBody>
      </p:sp>
      <p:pic>
        <p:nvPicPr>
          <p:cNvPr id="6" name="Image 0" descr="/mnt/user-data/uploads/16_statsbomb_ed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1207008"/>
            <a:ext cx="873252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"/>
            <a:ext cx="1920240" cy="23774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BLOK 8 · PILOT PIŁKARSKI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Wyniki — Czy aggressive policy byłaby lepsza dla La Liga?</a:t>
            </a:r>
            <a:endParaRPr lang="en-US" sz="2400" dirty="0"/>
          </a:p>
        </p:txBody>
      </p:sp>
      <p:pic>
        <p:nvPicPr>
          <p:cNvPr id="6" name="Image 0" descr="/mnt/user-data/uploads/17_statsbomb_ope_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1234440"/>
            <a:ext cx="530352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1234440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Estymaty OPE (eval: 50% progressive)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691640"/>
            <a:ext cx="326440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691640"/>
            <a:ext cx="64008" cy="53035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97296" y="16916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48272" y="16916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1.57%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0" y="2313432"/>
            <a:ext cx="326440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0" y="2313432"/>
            <a:ext cx="64008" cy="5303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97296" y="231343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48272" y="231343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2.05%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2935224"/>
            <a:ext cx="326440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2935224"/>
            <a:ext cx="64008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97296" y="293522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SNIPS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48272" y="293522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2.13%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0" y="3557016"/>
            <a:ext cx="326440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3557016"/>
            <a:ext cx="64008" cy="530352"/>
          </a:xfrm>
          <a:prstGeom prst="rect">
            <a:avLst/>
          </a:prstGeom>
          <a:solidFill>
            <a:srgbClr val="7C60D4"/>
          </a:solidFill>
          <a:ln w="12700">
            <a:solidFill>
              <a:srgbClr val="7C60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97296" y="355701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60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748272" y="355701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1.79% [1.31%, 2.27%]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0" y="4206240"/>
            <a:ext cx="3264408" cy="685800"/>
          </a:xfrm>
          <a:prstGeom prst="rect">
            <a:avLst/>
          </a:prstGeom>
          <a:solidFill>
            <a:srgbClr val="FEF3C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79008" y="4242816"/>
            <a:ext cx="309067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CTR = 1.93%  ·  ESS = 0.686
</a:t>
            </a:r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policy nie jest jednoznacznie lepsza.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Potrzeba ≥ 100 meczów dla wąskich CI.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8288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Wnioski — kiedy używać DM, IPS, DR?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960120"/>
            <a:ext cx="2788920" cy="3520440"/>
          </a:xfrm>
          <a:prstGeom prst="rect">
            <a:avLst/>
          </a:prstGeom>
          <a:solidFill>
            <a:srgbClr val="0A2535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960120"/>
            <a:ext cx="2788920" cy="7315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07899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Method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" y="148132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ufasz modelowi nagrody i masz dużo danych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0896" y="2029968"/>
            <a:ext cx="2578608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20299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9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0896" y="228600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Najniższe MSE, wąskie CI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0896" y="2834640"/>
            <a:ext cx="2578608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8346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" y="309067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systematyczny przy OOD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72968" y="960120"/>
            <a:ext cx="2788920" cy="3520440"/>
          </a:xfrm>
          <a:prstGeom prst="rect">
            <a:avLst/>
          </a:prstGeom>
          <a:solidFill>
            <a:srgbClr val="0A2535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2968" y="960120"/>
            <a:ext cx="278892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107899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IPS / SNIPS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82696" y="148132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masz dobry model propensity i overlap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82696" y="2029968"/>
            <a:ext cx="2578608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20299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9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82696" y="228600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Nieobciążony estymator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82696" y="2834640"/>
            <a:ext cx="2578608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82696" y="28346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82696" y="309067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Wysoka wariancja; wymaga ESS &gt; 0.3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44768" y="960120"/>
            <a:ext cx="2788920" cy="3520440"/>
          </a:xfrm>
          <a:prstGeom prst="rect">
            <a:avLst/>
          </a:prstGeom>
          <a:solidFill>
            <a:srgbClr val="0A2535"/>
          </a:solidFill>
          <a:ln w="12700">
            <a:solidFill>
              <a:srgbClr val="7C60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4768" y="960120"/>
            <a:ext cx="2788920" cy="73152"/>
          </a:xfrm>
          <a:prstGeom prst="rect">
            <a:avLst/>
          </a:prstGeom>
          <a:solidFill>
            <a:srgbClr val="7C60D4"/>
          </a:solidFill>
          <a:ln w="12700">
            <a:solidFill>
              <a:srgbClr val="7C60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107899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Doubly Robust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54496" y="148132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Produkcja — domyślny wybór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54496" y="2029968"/>
            <a:ext cx="2578608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20299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9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54496" y="228600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 gdy choć jeden model OK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54496" y="2834640"/>
            <a:ext cx="2578608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28346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54496" y="309067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Zawiedzie tylko gdy oba modele złe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01168" y="466344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Dalsze kroki: pełny StatsBomb (38 kolejek × 5 sezonów)  ·  Continuous treatment  ·  Q-function dla RL  ·  v1.0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Off-Policy Evaluation z korekcją kauzalną</dc:title>
  <dc:subject>PptxGenJS Presentation</dc:subject>
  <dc:creator>PptxGenJS</dc:creator>
  <cp:lastModifiedBy>PptxGenJS</cp:lastModifiedBy>
  <cp:revision>1</cp:revision>
  <dcterms:created xsi:type="dcterms:W3CDTF">2026-05-28T21:54:33Z</dcterms:created>
  <dcterms:modified xsi:type="dcterms:W3CDTF">2026-05-28T21:54:33Z</dcterms:modified>
</cp:coreProperties>
</file>